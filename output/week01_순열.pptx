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</a:t>
            </a:r>
          </a:p>
          <a:p>
            <a:r>
              <a:t>문제 1: (8−1)! = 5040</a:t>
            </a:r>
          </a:p>
          <a:p>
            <a:r>
              <a:t>문제 2: 10⁴ = 10000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4.mp4"/><Relationship Id="rId4" Type="http://schemas.openxmlformats.org/officeDocument/2006/relationships/video" Target="../media/media4.mp4"/><Relationship Id="rId5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F4A261"/>
                </a:solidFill>
                <a:latin typeface="맑은 고딕"/>
              </a:rPr>
              <a:t>확률과 통계 · 1주차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800" b="1">
                <a:solidFill>
                  <a:srgbClr val="FFFFFF"/>
                </a:solidFill>
                <a:latin typeface="맑은 고딕"/>
              </a:rPr>
              <a:t>여러 가지 순열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DDE3EA"/>
                </a:solidFill>
                <a:latin typeface="맑은 고딕"/>
              </a:rPr>
              <a:t>원순열과 중복순열</a:t>
            </a:r>
          </a:p>
        </p:txBody>
      </p:sp>
      <p:pic>
        <p:nvPicPr>
          <p:cNvPr id="6" name="Picture 5" descr="crop_5.6x7.5_비유_회전목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학습목표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F3A5F"/>
                </a:solidFill>
                <a:latin typeface="맑은 고딕"/>
              </a:rPr>
              <a:t>•  원순열의 뜻과 그 수 (n−1)!의 유도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F3A5F"/>
                </a:solidFill>
                <a:latin typeface="맑은 고딕"/>
              </a:rPr>
              <a:t>•  중복순열의 뜻과 그 수 nʳ의 계산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F3A5F"/>
                </a:solidFill>
                <a:latin typeface="맑은 고딕"/>
              </a:rPr>
              <a:t>•  링 네트워크, 디지털 비밀번호 등 공학 문제에의 적용</a:t>
            </a:r>
          </a:p>
        </p:txBody>
      </p:sp>
      <p:pic>
        <p:nvPicPr>
          <p:cNvPr id="7" name="Picture 6" descr="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23360"/>
            <a:ext cx="7772400" cy="24258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4572E"/>
                </a:solidFill>
                <a:latin typeface="맑은 고딕"/>
              </a:rPr>
              <a:t>개념 1 · 원순열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회전목마의 말 배치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65760"/>
            <a:ext cx="1645920" cy="4572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FFFFFF"/>
                </a:solidFill>
                <a:latin typeface="맑은 고딕"/>
              </a:rPr>
              <a:t>일상 속 비유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3</a:t>
            </a:r>
          </a:p>
        </p:txBody>
      </p:sp>
      <p:pic>
        <p:nvPicPr>
          <p:cNvPr id="8" name="Picture 7" descr="crop_6.6x5.0_비유_회전목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035040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00760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900" b="0">
                <a:solidFill>
                  <a:srgbClr val="8D99AE"/>
                </a:solidFill>
                <a:latin typeface="맑은 고딕"/>
              </a:rPr>
              <a:t>사진: Link576 / CC BY 2.0 / flickr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회전목마가 한 바퀴 도는 동안 바뀌는 것: 말의 위치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바뀌지 않는 것: 말들의 앞뒤 순서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따라서 회전만 다른 배치는 같은 배치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기준점(시작점)이 없는 배열 = 원순열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4572E"/>
                </a:solidFill>
                <a:latin typeface="맑은 고딕"/>
              </a:rPr>
              <a:t>개념 1 · 원순열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공학 속 원형 배열: 링 네트워크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4</a:t>
            </a:r>
          </a:p>
        </p:txBody>
      </p:sp>
      <p:pic>
        <p:nvPicPr>
          <p:cNvPr id="7" name="Picture 6" descr="ring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475488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182880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F3A5F"/>
                </a:solidFill>
                <a:latin typeface="맑은 고딕"/>
              </a:rPr>
              <a:t>•  센서 6개를 원형 통신 링에 연결하는 상황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3A5F"/>
                </a:solidFill>
                <a:latin typeface="맑은 고딕"/>
              </a:rPr>
              <a:t>•  전체 회전 시에도 이웃 관계는 동일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3A5F"/>
                </a:solidFill>
                <a:latin typeface="맑은 고딕"/>
              </a:rPr>
              <a:t>•  회전만 다른 배치는 같은 배치로 취급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3A5F"/>
                </a:solidFill>
                <a:latin typeface="맑은 고딕"/>
              </a:rPr>
              <a:t>•  핵심 질문: 서로 다른 배치의 개수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4572E"/>
                </a:solidFill>
                <a:latin typeface="맑은 고딕"/>
              </a:rPr>
              <a:t>개념 1 · 원순열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원순열: 회전하여 일치하면 같은 배열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5</a:t>
            </a:r>
          </a:p>
        </p:txBody>
      </p:sp>
      <p:pic>
        <p:nvPicPr>
          <p:cNvPr id="7" name="Rot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371600"/>
            <a:ext cx="7680960" cy="43205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7104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▶ 클릭하여 애니메이션 재생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737360"/>
            <a:ext cx="3200400" cy="2377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25400">
            <a:solidFill>
              <a:srgbClr val="E45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E4572E"/>
                </a:solidFill>
                <a:latin typeface="맑은 고딕"/>
              </a:rPr>
              <a:t>원순열의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3317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3A5F"/>
                </a:solidFill>
                <a:latin typeface="맑은 고딕"/>
              </a:rPr>
              <a:t>서로 다른 것을 원 모양으로 배열하는 순열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4572E"/>
                </a:solidFill>
                <a:latin typeface="맑은 고딕"/>
              </a:rPr>
              <a:t>개념 1 · 원순열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원순열의 수: 일렬 배열 ÷ 회전 중복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6</a:t>
            </a:r>
          </a:p>
        </p:txBody>
      </p:sp>
      <p:pic>
        <p:nvPicPr>
          <p:cNvPr id="7" name="Grouping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371600"/>
            <a:ext cx="7680960" cy="43205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7104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▶ 클릭하여 애니메이션 재생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64592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3A5F"/>
                </a:solidFill>
                <a:latin typeface="맑은 고딕"/>
              </a:rPr>
              <a:t>•  일렬 배열의 수: n!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3A5F"/>
                </a:solidFill>
                <a:latin typeface="맑은 고딕"/>
              </a:rPr>
              <a:t>•  같은 원형 배열: n개씩 중복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566160"/>
            <a:ext cx="3200400" cy="155448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25400">
            <a:solidFill>
              <a:srgbClr val="E45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3703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E4572E"/>
                </a:solidFill>
                <a:latin typeface="맑은 고딕"/>
              </a:rPr>
              <a:t>원순열의 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160520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F3A5F"/>
                </a:solidFill>
                <a:latin typeface="맑은 고딕"/>
              </a:rPr>
              <a:t>n!/n = (n−1)!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4572E"/>
                </a:solidFill>
                <a:latin typeface="맑은 고딕"/>
              </a:rPr>
              <a:t>개념 1 · 원순열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다른 관점: 한 자리 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7</a:t>
            </a:r>
          </a:p>
        </p:txBody>
      </p:sp>
      <p:pic>
        <p:nvPicPr>
          <p:cNvPr id="7" name="FixedSea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371600"/>
            <a:ext cx="7680960" cy="43205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7104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▶ 클릭하여 애니메이션 재생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6459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회전 자유도 제거를 위한 기준점 고정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나머지 n−1개의 일렬 배열 문제로 환원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회전목마의 '1번 말' 지정과 같은 원리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4572E"/>
                </a:solidFill>
                <a:latin typeface="맑은 고딕"/>
              </a:rPr>
              <a:t>예제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예제: 부모가 이웃하는 원형 식탁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8</a:t>
            </a:r>
          </a:p>
        </p:txBody>
      </p:sp>
      <p:pic>
        <p:nvPicPr>
          <p:cNvPr id="7" name="Picture 6" descr="crop_3.9x2.9_비유_원형식탁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356616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133087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900" b="0">
                <a:solidFill>
                  <a:srgbClr val="8D99AE"/>
                </a:solidFill>
                <a:latin typeface="맑은 고딕"/>
              </a:rPr>
              <a:t>사진: Lars Plougmann / CC BY-SA 2.0 / flickr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056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3A5F"/>
                </a:solidFill>
                <a:latin typeface="맑은 고딕"/>
              </a:rPr>
              <a:t>부모를 포함한 6명 가족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3A5F"/>
                </a:solidFill>
                <a:latin typeface="맑은 고딕"/>
              </a:rPr>
              <a:t>원형 식탁 착석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3A5F"/>
                </a:solidFill>
                <a:latin typeface="맑은 고딕"/>
              </a:rPr>
              <a:t>부모가 이웃하는 방법의 수</a:t>
            </a:r>
          </a:p>
        </p:txBody>
      </p:sp>
      <p:pic>
        <p:nvPicPr>
          <p:cNvPr id="10" name="Exampl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89120" y="1371600"/>
            <a:ext cx="73152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9120" y="55046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▶ 클릭하여 애니메이션 재생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4572E"/>
                </a:solidFill>
                <a:latin typeface="맑은 고딕"/>
              </a:rPr>
              <a:t>개념 2 · 중복순열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번호 자물쇠의 비밀번호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65760"/>
            <a:ext cx="1645920" cy="4572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FFFFFF"/>
                </a:solidFill>
                <a:latin typeface="맑은 고딕"/>
              </a:rPr>
              <a:t>일상 속 비유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9</a:t>
            </a:r>
          </a:p>
        </p:txBody>
      </p:sp>
      <p:pic>
        <p:nvPicPr>
          <p:cNvPr id="8" name="Picture 7" descr="crop_6.6x5.0_비유_번호자물쇠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035040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00760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900" b="0">
                <a:solidFill>
                  <a:srgbClr val="8D99AE"/>
                </a:solidFill>
                <a:latin typeface="맑은 고딕"/>
              </a:rPr>
              <a:t>사진: Reg Natarajan / CC BY 2.0 / flickr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다이얼 3개, 각 다이얼 0~9의 10가지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같은 숫자 반복 가능 (예: 777)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각 다이얼의 독립적 선택: 10 × 10 × 10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가능한 비밀번호: 10³ = 1000개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4572E"/>
                </a:solidFill>
                <a:latin typeface="맑은 고딕"/>
              </a:rPr>
              <a:t>개념 2 · 중복순열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중복순열: 같은 것의 반복 선택 허용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10</a:t>
            </a:r>
          </a:p>
        </p:txBody>
      </p:sp>
      <p:pic>
        <p:nvPicPr>
          <p:cNvPr id="7" name="Bit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371600"/>
            <a:ext cx="7680960" cy="43205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7104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▶ 클릭하여 애니메이션 재생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737360"/>
            <a:ext cx="3200400" cy="26517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9D8F"/>
                </a:solidFill>
                <a:latin typeface="맑은 고딕"/>
              </a:rPr>
              <a:t>중복순열의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331720"/>
            <a:ext cx="27432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3A5F"/>
                </a:solidFill>
                <a:latin typeface="맑은 고딕"/>
              </a:rPr>
              <a:t>n개에서 중복 허용 r개 택하기</a:t>
            </a:r>
            <a:br/>
            <a:r>
              <a:rPr sz="2000" b="1">
                <a:solidFill>
                  <a:srgbClr val="1F3A5F"/>
                </a:solidFill>
                <a:latin typeface="맑은 고딕"/>
              </a:rPr>
              <a:t>ₙΠᵣ = nʳ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4572E"/>
                </a:solidFill>
                <a:latin typeface="맑은 고딕"/>
              </a:rPr>
              <a:t>개념 2 · 중복순열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주사위를 여러 번 던지기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65760"/>
            <a:ext cx="1645920" cy="4572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FFFFFF"/>
                </a:solidFill>
                <a:latin typeface="맑은 고딕"/>
              </a:rPr>
              <a:t>일상 속 비유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11</a:t>
            </a:r>
          </a:p>
        </p:txBody>
      </p:sp>
      <p:pic>
        <p:nvPicPr>
          <p:cNvPr id="8" name="Picture 7" descr="crop_6.6x5.0_비유_주사위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035040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00760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900" b="0">
                <a:solidFill>
                  <a:srgbClr val="8D99AE"/>
                </a:solidFill>
                <a:latin typeface="맑은 고딕"/>
              </a:rPr>
              <a:t>사진: Mak Ting Him / CC BY 2.0 / flickr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주사위 1번: 6가지 눈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같은 눈의 반복 가능 → 중복순열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3번 던질 때 눈의 순서쌍: 6³ = 216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실험 반복 횟수 r에 따른 지수적 증가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4572E"/>
                </a:solidFill>
                <a:latin typeface="맑은 고딕"/>
              </a:rPr>
              <a:t>개념 2 · 중복순열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공학 적용: 비밀번호 공간의 크기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12</a:t>
            </a:r>
          </a:p>
        </p:txBody>
      </p:sp>
      <p:pic>
        <p:nvPicPr>
          <p:cNvPr id="7" name="Growth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371600"/>
            <a:ext cx="7680960" cy="43205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7104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▶ 클릭하여 애니메이션 재생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6459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F3A5F"/>
                </a:solidFill>
                <a:latin typeface="맑은 고딕"/>
              </a:rPr>
              <a:t>•  OTP 6자리 숫자: 10⁶ = 100만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3A5F"/>
                </a:solidFill>
                <a:latin typeface="맑은 고딕"/>
              </a:rPr>
              <a:t>•  8비트: 2⁸ = 256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3A5F"/>
                </a:solidFill>
                <a:latin typeface="맑은 고딕"/>
              </a:rPr>
              <a:t>•  영문+숫자 8자리: 62⁸ ≈ 2.2×10¹⁴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3A5F"/>
                </a:solidFill>
                <a:latin typeface="맑은 고딕"/>
              </a:rPr>
              <a:t>•  자릿수 증가에 따른 지수적 증가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정리: 세 가지 순열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13</a:t>
            </a:r>
          </a:p>
        </p:txBody>
      </p:sp>
      <p:pic>
        <p:nvPicPr>
          <p:cNvPr id="6" name="Picture 5" descr="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33390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937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F3A5F"/>
                </a:solidFill>
                <a:latin typeface="맑은 고딕"/>
              </a:rPr>
              <a:t>•  원순열: 회전하여 같은 것 제거 → n으로 나눔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3A5F"/>
                </a:solidFill>
                <a:latin typeface="맑은 고딕"/>
              </a:rPr>
              <a:t>•  중복순열: 각 자리의 독립적 선택 → n을 r번 곱함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확인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14</a:t>
            </a:r>
          </a:p>
        </p:txBody>
      </p:sp>
      <p:pic>
        <p:nvPicPr>
          <p:cNvPr id="6" name="Picture 5" descr="crop_4.2x3.1_비유_관람차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384048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3616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900" b="0">
                <a:solidFill>
                  <a:srgbClr val="8D99AE"/>
                </a:solidFill>
                <a:latin typeface="맑은 고딕"/>
              </a:rPr>
              <a:t>사진: Feltkamp / CC BY 2.0 / flickr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463040"/>
            <a:ext cx="6858000" cy="17373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254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600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3A5F"/>
                </a:solidFill>
                <a:latin typeface="맑은 고딕"/>
              </a:rPr>
              <a:t>문제 1  원순열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057400"/>
            <a:ext cx="640080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3A5F"/>
                </a:solidFill>
                <a:latin typeface="맑은 고딕"/>
              </a:rPr>
              <a:t>서로 다른 8색으로 관람차 8칸 색칠하는 방법의 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474720"/>
            <a:ext cx="6858000" cy="17373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361187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9D8F"/>
                </a:solidFill>
                <a:latin typeface="맑은 고딕"/>
              </a:rPr>
              <a:t>문제 2  중복순열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4069080"/>
            <a:ext cx="640080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3A5F"/>
                </a:solidFill>
                <a:latin typeface="맑은 고딕"/>
              </a:rPr>
              <a:t>0~9 숫자 4자리 PIN의 개수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