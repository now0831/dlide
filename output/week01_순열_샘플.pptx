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F4A261"/>
                </a:solidFill>
                <a:latin typeface="맑은 고딕"/>
              </a:rPr>
              <a:t>확률과 통계 · 1주차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맑은 고딕"/>
              </a:rPr>
              <a:t>여러 가지 순열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DDE3EA"/>
                </a:solidFill>
                <a:latin typeface="맑은 고딕"/>
              </a:rPr>
              <a:t>원순열과 중복순열</a:t>
            </a:r>
          </a:p>
        </p:txBody>
      </p:sp>
      <p:pic>
        <p:nvPicPr>
          <p:cNvPr id="6" name="Picture 5" descr="r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480560"/>
            <a:ext cx="5029200" cy="13525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F3A5F"/>
                </a:solidFill>
                <a:latin typeface="맑은 고딕"/>
              </a:rPr>
              <a:t>•  원순열의 뜻과 그 수 (n−1)!의 유도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F3A5F"/>
                </a:solidFill>
                <a:latin typeface="맑은 고딕"/>
              </a:rPr>
              <a:t>•  중복순열의 뜻과 그 수 nʳ의 계산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F3A5F"/>
                </a:solidFill>
                <a:latin typeface="맑은 고딕"/>
              </a:rPr>
              <a:t>•  링 네트워크, 디지털 비밀번호 등 공학 문제에의 적용</a:t>
            </a:r>
          </a:p>
        </p:txBody>
      </p:sp>
      <p:pic>
        <p:nvPicPr>
          <p:cNvPr id="7" name="Picture 6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7772400" cy="24258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공학 속의 경우의 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왜 원형 배열인가: 링 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3</a:t>
            </a:r>
          </a:p>
        </p:txBody>
      </p:sp>
      <p:pic>
        <p:nvPicPr>
          <p:cNvPr id="7" name="Picture 6" descr="ring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4754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1828800"/>
            <a:ext cx="603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센서 6개를 원형 통신 링에 연결하는 상황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전체 회전 시에도 이웃 관계는 동일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회전만 다른 배치는 같은 배치로 취급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핵심 질문: 서로 다른 배치의 개수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원순열: 회전하여 일치하면 같은 배열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4</a:t>
            </a:r>
          </a:p>
        </p:txBody>
      </p:sp>
      <p:pic>
        <p:nvPicPr>
          <p:cNvPr id="7" name="Picture 6" descr="r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28773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84632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25400">
            <a:solidFill>
              <a:srgbClr val="E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9834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4572E"/>
                </a:solidFill>
                <a:latin typeface="맑은 고딕"/>
              </a:rPr>
              <a:t>원순열의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44068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F3A5F"/>
                </a:solidFill>
                <a:latin typeface="맑은 고딕"/>
              </a:rPr>
              <a:t>서로 다른 것을 원 모양으로 배열하는 순열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원순열의 수: 일렬 배열 ÷ 회전 중복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5</a:t>
            </a:r>
          </a:p>
        </p:txBody>
      </p:sp>
      <p:pic>
        <p:nvPicPr>
          <p:cNvPr id="7" name="Picture 6" descr="grou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498079" cy="46539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E4572E"/>
                </a:solidFill>
                <a:latin typeface="맑은 고딕"/>
              </a:rPr>
              <a:t>일반화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일렬 배열의 수: n!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같은 원형 배열: n개씩 중복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20624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25400">
            <a:solidFill>
              <a:srgbClr val="E45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43434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E4572E"/>
                </a:solidFill>
                <a:latin typeface="맑은 고딕"/>
              </a:rPr>
              <a:t>원순열의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4800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F3A5F"/>
                </a:solidFill>
                <a:latin typeface="맑은 고딕"/>
              </a:rPr>
              <a:t>n!/n = (n−1)!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다른 관점: 한 자리 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6</a:t>
            </a:r>
          </a:p>
        </p:txBody>
      </p:sp>
      <p:pic>
        <p:nvPicPr>
          <p:cNvPr id="7" name="Picture 6" descr="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448485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18288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회전 자유도 제거를 위한 기준점 A 고정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나머지 n−1개의 일렬 배열 문제로 환원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5명이면 (5−1)! = 4! = 24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3A5F"/>
                </a:solidFill>
                <a:latin typeface="맑은 고딕"/>
              </a:rPr>
              <a:t>•  같은 결과 (n−1)!, 기억하기 쉬운 해석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예제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예제: 이웃하는 조건이 있는 원순열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8D99AE"/>
                </a:solidFill>
                <a:latin typeface="맑은 고딕"/>
              </a:rPr>
              <a:t>부모를 포함한 6명 가족의 원형 식탁 착석, 부모가 이웃하는 방법의 수</a:t>
            </a:r>
          </a:p>
        </p:txBody>
      </p:sp>
      <p:pic>
        <p:nvPicPr>
          <p:cNvPr id="8" name="Picture 7" descr="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10698480" cy="3740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중복순열: 같은 것의 반복 선택 허용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8D99AE"/>
                </a:solidFill>
                <a:latin typeface="맑은 고딕"/>
              </a:rPr>
              <a:t>8비트 데이터: 각 자리마다 0 또는 1, 같은 값 반복 가능</a:t>
            </a:r>
          </a:p>
        </p:txBody>
      </p:sp>
      <p:pic>
        <p:nvPicPr>
          <p:cNvPr id="8" name="Picture 7" descr="s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10698480" cy="2942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166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9D8F"/>
                </a:solidFill>
                <a:latin typeface="맑은 고딕"/>
              </a:rPr>
              <a:t>중복순열의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623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F3A5F"/>
                </a:solidFill>
                <a:latin typeface="맑은 고딕"/>
              </a:rPr>
              <a:t>서로 다른 n개에서 중복 허용 r개 택하는 순열의 수: ₙΠᵣ = nʳ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4572E"/>
                </a:solidFill>
                <a:latin typeface="맑은 고딕"/>
              </a:rPr>
              <a:t>개념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공학 적용: 비밀번호 공간의 크기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9</a:t>
            </a:r>
          </a:p>
        </p:txBody>
      </p:sp>
      <p:pic>
        <p:nvPicPr>
          <p:cNvPr id="7" name="Picture 6" descr="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289941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8288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OTP 6자리 숫자: 10⁶ = 100만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8비트: 2⁸ = 256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영문+숫자 8자리: 62⁸ ≈ 2.2×10¹⁴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F3A5F"/>
                </a:solidFill>
                <a:latin typeface="맑은 고딕"/>
              </a:rPr>
              <a:t>•  자릿수 증가에 따른 지수적 증가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확인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확률과 통계 · 1주차 순열과 조합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8D99AE"/>
                </a:solidFill>
                <a:latin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3A5F"/>
                </a:solidFill>
                <a:latin typeface="맑은 고딕"/>
              </a:rPr>
              <a:t>문제 1  원순열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F3A5F"/>
                </a:solidFill>
                <a:latin typeface="맑은 고딕"/>
              </a:rPr>
              <a:t>서로 다른 8색으로 관람차 8칸 색칠하는 방법의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212080" cy="2194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9D8F"/>
                </a:solidFill>
                <a:latin typeface="맑은 고딕"/>
              </a:rPr>
              <a:t>문제 2  중복순열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40280"/>
            <a:ext cx="47548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F3A5F"/>
                </a:solidFill>
                <a:latin typeface="맑은 고딕"/>
              </a:rPr>
              <a:t>0~9 숫자 4자리 PIN의 개수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8D99AE"/>
                </a:solidFill>
                <a:latin typeface="맑은 고딕"/>
              </a:rPr>
              <a:t>정답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8D99AE"/>
                </a:solidFill>
                <a:latin typeface="맑은 고딕"/>
              </a:rPr>
              <a:t>문제 1: (8−1)! = 5040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8D99AE"/>
                </a:solidFill>
                <a:latin typeface="맑은 고딕"/>
              </a:rPr>
              <a:t>문제 2: ₁₀Π₄ = 10⁴ = 10000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